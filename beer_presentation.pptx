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488FF9-0927-424B-9D6B-333C22AA83C6}">
  <a:tblStyle styleId="{2F488FF9-0927-424B-9D6B-333C22AA83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BSDS 200 · Final Project ·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65760" y="105156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Measuring the Unmeasurable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5760" y="21031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600"/>
              <a:buFont typeface="Georgia"/>
              <a:buNone/>
            </a:pPr>
            <a:r>
              <a:rPr b="0" i="1" lang="en-US" sz="26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A Beer Data Story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365760" y="2880360"/>
            <a:ext cx="5029200" cy="0"/>
          </a:xfrm>
          <a:prstGeom prst="straightConnector1">
            <a:avLst/>
          </a:prstGeom>
          <a:noFill/>
          <a:ln cap="flat" cmpd="sng" w="12700">
            <a:solidFill>
              <a:srgbClr val="6B3A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Plinio Durango</a:t>
            </a:r>
            <a:r>
              <a:rPr b="0" i="0" lang="en-US" sz="13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3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Zachary 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Beer Reviews Dataset  ·  BeerAdvocate + BJCP Style Guide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858000" y="274320"/>
            <a:ext cx="2560320" cy="2560320"/>
          </a:xfrm>
          <a:prstGeom prst="ellipse">
            <a:avLst/>
          </a:prstGeom>
          <a:solidFill>
            <a:srgbClr val="D4A017">
              <a:alpha val="12156"/>
            </a:srgbClr>
          </a:solidFill>
          <a:ln cap="flat" cmpd="sng" w="12700">
            <a:solidFill>
              <a:srgbClr val="D4A01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406640" y="2286000"/>
            <a:ext cx="1645920" cy="1645920"/>
          </a:xfrm>
          <a:prstGeom prst="ellipse">
            <a:avLst/>
          </a:prstGeom>
          <a:solidFill>
            <a:srgbClr val="6B3A2A">
              <a:alpha val="20000"/>
            </a:srgbClr>
          </a:solidFill>
          <a:ln cap="flat" cmpd="sng" w="12700">
            <a:solidFill>
              <a:srgbClr val="6B3A2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A2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PART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5760" y="160020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Origin Story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5760" y="283464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How did a group of students turn taste into numbers 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and why does that matter?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How Do You Turn a Review into a Number?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The flavor profile columns are word counts — scanned across up to 25 reviews per beer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457200" y="1143000"/>
            <a:ext cx="466344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594360" y="123444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Example review — Alaskan Amber (American Amber Ale)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94360" y="1572768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"Richly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malty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and long on the palate, with just enough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hop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backing to make this beautiful amber-colored beer notably well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balanced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 The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sweet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caramel notes blend with a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bitter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finish. Full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malty</a:t>
            </a: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backbone throughout."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94360" y="297180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↑  highlighted words are matched against the Beer Descriptors dictionary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94360" y="32918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This is repeated across up to 25 reviews per beer — counts accumulate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5"/>
          <p:cNvCxnSpPr/>
          <p:nvPr/>
        </p:nvCxnSpPr>
        <p:spPr>
          <a:xfrm>
            <a:off x="5257800" y="251460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5"/>
          <p:cNvSpPr/>
          <p:nvPr/>
        </p:nvSpPr>
        <p:spPr>
          <a:xfrm>
            <a:off x="5257800" y="2331720"/>
            <a:ext cx="502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897880" y="1143000"/>
            <a:ext cx="2834640" cy="2743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035040" y="12344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Resulting flavor profile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035040" y="157276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Malty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6748272" y="160934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748272" y="1609344"/>
            <a:ext cx="1405362" cy="16459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412480" y="157276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111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035040" y="184708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Hoppy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748272" y="188366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748272" y="1883664"/>
            <a:ext cx="721673" cy="16459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8412480" y="18470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57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035040" y="212140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Sweet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748272" y="215798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748272" y="2157984"/>
            <a:ext cx="936908" cy="16459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412480" y="212140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035040" y="239572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748272" y="243230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6748272" y="2432304"/>
            <a:ext cx="595063" cy="16459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412480" y="239572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035040" y="267004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748272" y="270662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748272" y="2706624"/>
            <a:ext cx="405150" cy="16459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412480" y="267004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35040" y="294436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Sour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748272" y="298094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6748272" y="2980944"/>
            <a:ext cx="417810" cy="164592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412480" y="294436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035040" y="3218688"/>
            <a:ext cx="685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Salty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748272" y="3255264"/>
            <a:ext cx="1645920" cy="164592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412480" y="3218688"/>
            <a:ext cx="2743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57200" y="4005072"/>
            <a:ext cx="8321040" cy="777240"/>
          </a:xfrm>
          <a:prstGeom prst="rect">
            <a:avLst/>
          </a:prstGeom>
          <a:solidFill>
            <a:srgbClr val="FFF8EC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4005072"/>
            <a:ext cx="64008" cy="77724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658368" y="4041648"/>
            <a:ext cx="7955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Why this matters for our filter:  beers with fewer than 25 reviews have incomplete profiles — their word counts are based on fewer inputs and are not comparable to fully profiled beers. Filtering to number_of_reviews &gt; 25 guarantees every beer in the analysis has a complete flavor profile.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Where Did the Data Come From?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The author combined two separate Kaggle datasets into one — this is what the notebook documents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57200" y="1115568"/>
            <a:ext cx="384048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57200" y="1115568"/>
            <a:ext cx="3840480" cy="64008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594360" y="123444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Source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94360" y="14813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Beer Tasting Profiles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94360" y="1901952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Contains beer metadata and tasting profiles: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beer name, brewery, style, ABV, IBU range,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and the 11 flavor word-count columns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(Hoppy, Malty, Sweet, Bitter, etc.)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kaggle.com/ruthgn/beer-profile-and-ratings-data-set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343400" y="192024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846320" y="1115568"/>
            <a:ext cx="3840480" cy="23774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846320" y="1115568"/>
            <a:ext cx="3840480" cy="64008"/>
          </a:xfrm>
          <a:prstGeom prst="rect">
            <a:avLst/>
          </a:prstGeom>
          <a:solidFill>
            <a:srgbClr val="2E4057"/>
          </a:solidFill>
          <a:ln cap="flat" cmpd="sng" w="12700">
            <a:solidFill>
              <a:srgbClr val="2E40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4983480" y="1234440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Source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4983480" y="1481328"/>
            <a:ext cx="3566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405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E4057"/>
                </a:solidFill>
                <a:latin typeface="Calibri"/>
                <a:ea typeface="Calibri"/>
                <a:cs typeface="Calibri"/>
                <a:sym typeface="Calibri"/>
              </a:rPr>
              <a:t>1.5 Million Beer Reviews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983480" y="1901952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Contains user review data from BeerAdvocate: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scores for aroma, appearance,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palate, taste, overall — and 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number of reviews per beer.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kaggle.com/rdoume/beerreviews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114800" y="36118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88720" y="4023360"/>
            <a:ext cx="6766560" cy="804672"/>
          </a:xfrm>
          <a:prstGeom prst="rect">
            <a:avLst/>
          </a:prstGeom>
          <a:solidFill>
            <a:srgbClr val="FFF8EC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1188720" y="4023360"/>
            <a:ext cx="64008" cy="804672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1389888" y="4059936"/>
            <a:ext cx="63550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Problem: the two datasets use different beer names and brewery names — they cannot be joined with a simple exact match. The author needed a smarter approach to link 3,197 beers across both sources.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 Joining Problem — Solved with FuzzyWuzzy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Exact string matching fails when names differ slightly — fuzzy matching finds the best fit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57200" y="1115568"/>
            <a:ext cx="37490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94360" y="120700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Why a normal JOIN fails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1554480"/>
            <a:ext cx="3749040" cy="237744"/>
          </a:xfrm>
          <a:prstGeom prst="rect">
            <a:avLst/>
          </a:prstGeom>
          <a:solidFill>
            <a:srgbClr val="6B3A2A"/>
          </a:solidFill>
          <a:ln cap="flat" cmpd="sng" w="12700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530352" y="1581912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1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2286000" y="15819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2 name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" y="1810512"/>
            <a:ext cx="3749040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30352" y="1837944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Alaskan Amber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2286000" y="18379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Alaskan Brewing Amber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2066544"/>
            <a:ext cx="3749040" cy="237744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30352" y="2093976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Dogfish Head 60 Minute IPA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2286000" y="2093976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60 Minute IPA (Dogfish Head)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2322576"/>
            <a:ext cx="3749040" cy="2377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530352" y="2350008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Three Floyds Dark Lord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2286000" y="2350008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Dark Lord Russian Imperial Stout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" y="2487168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Same beer — different string. SQL ON b1.name = b2.name gives no match.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389120" y="1115568"/>
            <a:ext cx="42976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526280" y="1207008"/>
            <a:ext cx="40233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What FuzzyWuzzy does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4526280" y="1554480"/>
            <a:ext cx="402336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FuzzyWuzzy computes a similarity score (0–100) between two strings based on edit distance — how many character changes are needed to turn one into the other.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token_sort_ratio sorts words alphabetically before comparing, making it robust to word-order differences.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57200" y="2724912"/>
            <a:ext cx="818388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594360" y="2816352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Example: scoring beer name candidates for 'Alaskan Amber'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97280" y="3154680"/>
            <a:ext cx="274320" cy="50292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097280" y="3199943"/>
            <a:ext cx="274320" cy="457657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59436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594360" y="371246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Alaskan Brewing Amber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3108960" y="3154680"/>
            <a:ext cx="274320" cy="50292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3108960" y="3295498"/>
            <a:ext cx="274320" cy="362102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260604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72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2606040" y="371246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Alaskan Pale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5120640" y="3154680"/>
            <a:ext cx="274320" cy="50292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5120640" y="3380994"/>
            <a:ext cx="274320" cy="276606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61772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617720" y="371246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Amber Ale (Some Brewery)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132320" y="3154680"/>
            <a:ext cx="274320" cy="502920"/>
          </a:xfrm>
          <a:prstGeom prst="rect">
            <a:avLst/>
          </a:prstGeom>
          <a:solidFill>
            <a:srgbClr val="EEEEEE"/>
          </a:solidFill>
          <a:ln cap="flat" cmpd="sng" w="12700">
            <a:solidFill>
              <a:srgbClr val="EEEE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7132320" y="3541928"/>
            <a:ext cx="274320" cy="115672"/>
          </a:xfrm>
          <a:prstGeom prst="rect">
            <a:avLst/>
          </a:prstGeom>
          <a:solidFill>
            <a:srgbClr val="BBBBBB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629400" y="3127248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629400" y="371246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Sierra Nevada Pale 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594360" y="40690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✓  score ≥ 90 → accepted as a match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4297680" y="40690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✗  score &lt; 90 → rejected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4407408"/>
            <a:ext cx="8321040" cy="502920"/>
          </a:xfrm>
          <a:prstGeom prst="rect">
            <a:avLst/>
          </a:prstGeom>
          <a:solidFill>
            <a:srgbClr val="FFF8EC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57200" y="4407408"/>
            <a:ext cx="64008" cy="50292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58368" y="4443984"/>
            <a:ext cx="7955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result: 3,197 beers successfully matched across both sources — producing our final clean_file.csv dataset.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The Problem: Not All Scales Are Equal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960120"/>
            <a:ext cx="4023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11 flavor columns are raw word counts, not ratings.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Each column has a completely different natural ceiling because some flavor words appear far more often in beer writing than others.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This makes direct comparison between attributes meaningless.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3440" y="868680"/>
            <a:ext cx="420624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457200" y="4297680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Malty reaches 239 · Salty reaches only 48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100"/>
              <a:buFont typeface="Calibri"/>
              <a:buNone/>
            </a:pPr>
            <a:r>
              <a:rPr b="1" i="1" lang="en-US" sz="11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So Hoppy = 60 ≠ Malty = 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365760" y="32004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German Tank Problem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 WWII statistical insight — applied to beer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365760" y="1417320"/>
            <a:ext cx="45720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During WWII, Allied analysts needed to estimate Germany's total tank production. They only had captured serial numbers — a small sample.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Their insight: if you observe n tanks with serial numbers up to M (the max in your sample), the best unbiased estimate of the true total N is: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365760" y="3520440"/>
            <a:ext cx="4572000" cy="82296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457200" y="3584448"/>
            <a:ext cx="4389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D4A017"/>
                </a:solidFill>
                <a:latin typeface="Courier New"/>
                <a:ea typeface="Courier New"/>
                <a:cs typeface="Courier New"/>
                <a:sym typeface="Courier New"/>
              </a:rPr>
              <a:t>N_estimated  =  M x (n + 1) / 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212080" y="1325880"/>
            <a:ext cx="3566160" cy="3474720"/>
          </a:xfrm>
          <a:prstGeom prst="rect">
            <a:avLst/>
          </a:prstGeom>
          <a:solidFill>
            <a:srgbClr val="2A2A2A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349240" y="1463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Applied to our dataset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349240" y="1920240"/>
            <a:ext cx="32918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M = max word count observed for each flavor attribute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n = number of beers in our filtered sample (&gt; 25 reviews)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N_est = estimated 'true maximum' for that attribute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Normalized score = raw score ÷ N_est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Result: all 11 attributes mapped to a fair 0–1 scale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Inspired by a lesson from our Statistics professor — and a spark from Nate's presentation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German Tank Results: Estimated True Maximums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n = 2,340 beers with &gt; 25 reviews, valid ABV and IBU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10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{2F488FF9-0927-424B-9D6B-333C22AA83C6}</a:tableStyleId>
              </a:tblPr>
              <a:tblGrid>
                <a:gridCol w="2194550"/>
                <a:gridCol w="1828800"/>
                <a:gridCol w="2011675"/>
                <a:gridCol w="219455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Attribute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3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Observed Max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3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Tank Estimate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3A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Scale Factor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3A2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Astringency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77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77.03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0.01298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Body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175.07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0.00571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Alcohol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126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126.05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0.00793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Bitter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150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150.06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0.00666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Sweet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219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219.09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0.00456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Sour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241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241.10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0.00415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Salty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48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48.02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0.02082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Fruits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165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165.07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0.00605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Hoppy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172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172.07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0.00581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Spices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178.08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0.00561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Malty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239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239.10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1A1A"/>
                          </a:solidFill>
                        </a:rPr>
                        <a:t>0.00418</a:t>
                      </a:r>
                      <a:endParaRPr sz="115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8E0D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2" name="Google Shape;182;p1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Scale factor = 1 / Tank Estimate  ·  Multiply raw score by this to normalize to 0–1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B3A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4A017"/>
                </a:solidFill>
                <a:latin typeface="Calibri"/>
                <a:ea typeface="Calibri"/>
                <a:cs typeface="Calibri"/>
                <a:sym typeface="Calibri"/>
              </a:rPr>
              <a:t>PART TWO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365760" y="1600200"/>
            <a:ext cx="84124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Findings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365760" y="2834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6 visualizations — what the data tells us about beer quality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1 — What Does a 'Good Beer' Look Like?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ating_dist_chart.png" id="198" name="Google Shape;19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14400"/>
            <a:ext cx="8595360" cy="3794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2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Most craft beers cluster between 3.7 and 4.0  ·  Mean = 3.77  ·  2,340 beers analyzed  ·  29% score ≥ 4.0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2 — Which Beer Styles Win?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Top 15 styles by average overall rating  ·  styles with ≥ 5 beers and &gt; 25 reviews each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op_styles_chart.png"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51560"/>
            <a:ext cx="8229600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3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Specialty and complex styles dominate — confirming that the reviewer base skews toward craft enthusiasts.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4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3 — Flavor DNA of Great vs. Average Beers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German Tank normalized scores (0–1 scale)  ·  Top-rated ≥ 4.0 vs. Below 3.7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adar_chart.png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960120"/>
            <a:ext cx="576072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4"/>
          <p:cNvSpPr/>
          <p:nvPr/>
        </p:nvSpPr>
        <p:spPr>
          <a:xfrm>
            <a:off x="6309360" y="1005840"/>
            <a:ext cx="2468880" cy="38404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>
            <a:off x="6446520" y="114300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6446520" y="1554480"/>
            <a:ext cx="22402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Top-rated beers score consistently higher across ALL 11 dimensions — not just one or two.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biggest gaps (top vs. below 3.7):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Spices  (+72%)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Sour    (+61%)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Fruits  (+51%)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Body    (+48%)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Bitter  (+47%)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Salty is the only attribute where top-rated beers score lower (-17%) — great beers are rarely described as salty.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4 — Does Stronger Mean Better?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Bars rise with ABV — but the line shows data gets thin above 10%, so treat those buckets with caution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abv_chart.png" id="227" name="Google Shape;22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6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5 — Does a More Bitter Beer Mean a Better Beer?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6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IBU (International Bitterness Units) bucket vs. average rating  ·  bars = avg rating  ·  line = number of beers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bu_chart.png" id="235" name="Google Shape;23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960120"/>
            <a:ext cx="859536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Unlike ABV, bitterness has a sweet spot — ratings peak at 60–80 IBU then dip slightly above 80.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Figure 6 — Which Breweries Are Reliably Excellent?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457200" y="7955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Top 20 breweries by avg rating  ·  gold dot = average  ·  grey bar = full min–max range  ·  shorter bar = more consistent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rewery_consistency_chart.png" id="244" name="Google Shape;2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8595360" cy="3931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6E3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8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1A1A1A"/>
                </a:solidFill>
                <a:latin typeface="Georgia"/>
                <a:ea typeface="Georgia"/>
                <a:cs typeface="Georgia"/>
                <a:sym typeface="Georgia"/>
              </a:rPr>
              <a:t>What We Learned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457200" y="100584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457200" y="1005840"/>
            <a:ext cx="4114800" cy="64008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594360" y="11430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1188720" y="11430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Great beers are complex — not extreme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94360" y="166420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Top-rated beers score higher across all 11 flavor attributes. The biggest gaps are Spices (+72%), Sour (+61%), and Fruits (+51%). Salty is the only attribute where top-rated beers score lower.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57200" y="283464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457200" y="2834640"/>
            <a:ext cx="4114800" cy="64008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8"/>
          <p:cNvSpPr/>
          <p:nvPr/>
        </p:nvSpPr>
        <p:spPr>
          <a:xfrm>
            <a:off x="594360" y="2971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1188720" y="2971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Both ABV and IBU predict ratings — up to a point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594360" y="349300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Ratings rise with ABV across all buckets. For bitterness (IBU) there is a sweet spot at 60–80 IBU — above 80 IBU ratings dip slightly, suggesting extreme bitterness is penalized.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846320" y="100584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4846320" y="1005840"/>
            <a:ext cx="4114800" cy="64008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4983480" y="11430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5577840" y="11430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Style is the strongest predictor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983480" y="166420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Specialty styles (Wild Ales, Quadrupels, Imperial Stouts) dominate top ratings, reflecting both genuine complexity and reviewer selection bias.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4846320" y="2834640"/>
            <a:ext cx="411480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8E0D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4846320" y="2834640"/>
            <a:ext cx="4114800" cy="64008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4983480" y="2971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017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4A017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5577840" y="29718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3A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B3A2A"/>
                </a:solidFill>
                <a:latin typeface="Calibri"/>
                <a:ea typeface="Calibri"/>
                <a:cs typeface="Calibri"/>
                <a:sym typeface="Calibri"/>
              </a:rPr>
              <a:t>The German Tank correction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/>
          <p:nvPr/>
        </p:nvSpPr>
        <p:spPr>
          <a:xfrm>
            <a:off x="4983480" y="349300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Normalizing the 11 flavor columns to a common 0–1 scale made cross-attribute comparison valid for the first time in this dataset.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cap="flat" cmpd="sng" w="1270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19"/>
          <p:cNvCxnSpPr/>
          <p:nvPr/>
        </p:nvCxnSpPr>
        <p:spPr>
          <a:xfrm>
            <a:off x="365760" y="2423160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D4A01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9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F6E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DF6E3"/>
                </a:solidFill>
                <a:latin typeface="Calibri"/>
                <a:ea typeface="Calibri"/>
                <a:cs typeface="Calibri"/>
                <a:sym typeface="Calibri"/>
              </a:rPr>
              <a:t>Plinio Durango  ·  Zachary 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65760" y="30175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BSDS 200 · Applied Data Science Methods ·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9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Data: Kaggle Beer Reviews Dataset + BJCP 2015 Style Guide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A7A7A"/>
                </a:solidFill>
                <a:latin typeface="Calibri"/>
                <a:ea typeface="Calibri"/>
                <a:cs typeface="Calibri"/>
                <a:sym typeface="Calibri"/>
              </a:rPr>
              <a:t>Method: German Tank Problem normalization + BeerAdvocate review scores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6583680" y="182880"/>
            <a:ext cx="2743200" cy="2743200"/>
          </a:xfrm>
          <a:prstGeom prst="ellipse">
            <a:avLst/>
          </a:prstGeom>
          <a:solidFill>
            <a:srgbClr val="D4A017">
              <a:alpha val="10196"/>
            </a:srgbClr>
          </a:solidFill>
          <a:ln cap="flat" cmpd="sng" w="12700">
            <a:solidFill>
              <a:srgbClr val="D4A017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